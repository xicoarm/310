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mark 3"/>
          <p:cNvSpPr/>
          <p:nvPr/>
        </p:nvSpPr>
        <p:spPr>
          <a:xfrm>
            <a:off x="548640" y="4572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cross 4"/>
          <p:cNvSpPr/>
          <p:nvPr/>
        </p:nvSpPr>
        <p:spPr>
          <a:xfrm>
            <a:off x="709574" y="533644"/>
            <a:ext cx="80467" cy="2494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cross 5"/>
          <p:cNvSpPr/>
          <p:nvPr/>
        </p:nvSpPr>
        <p:spPr>
          <a:xfrm>
            <a:off x="625084" y="618134"/>
            <a:ext cx="249448" cy="804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dmark 6"/>
          <p:cNvSpPr txBox="1"/>
          <p:nvPr/>
        </p:nvSpPr>
        <p:spPr>
          <a:xfrm>
            <a:off x="1078992" y="411480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760" b="1" dirty="0">
                <a:solidFill>
                  <a:srgbClr val="FFFFFF"/>
                </a:solidFill>
                <a:latin typeface="Arial"/>
                <a:cs typeface="Arial"/>
              </a:rPr>
              <a:t>Suisse Meets</a:t>
            </a:r>
            <a:r>
              <a:rPr lang="en-US" sz="1760" dirty="0">
                <a:solidFill>
                  <a:srgbClr val="A3ABB6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528255" y="457200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dirty="0">
                <a:solidFill>
                  <a:srgbClr val="A3ABB6"/>
                </a:solidFill>
                <a:latin typeface="Arial"/>
                <a:cs typeface="Arial"/>
              </a:rPr>
              <a:t>Solution proposal  ·  September 2026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548640" y="137160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ON-PREMISE EDITION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1664208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/>
                <a:cs typeface="Arial"/>
              </a:rPr>
              <a:t>Meeting intelligence that never leaves your building.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48640" y="3310128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D3D8DF"/>
                </a:solidFill>
                <a:latin typeface="Arial"/>
                <a:cs typeface="Arial"/>
              </a:rPr>
              <a:t>The Suisse Meets web app, Swiss-German transcription, speaker recognition and AI minutes — installed on your own servers. No cloud. No internet connection required.</a:t>
            </a:r>
          </a:p>
        </p:txBody>
      </p:sp>
      <p:sp>
        <p:nvSpPr>
          <p:cNvPr id="11" name="Scope card 11"/>
          <p:cNvSpPr/>
          <p:nvPr/>
        </p:nvSpPr>
        <p:spPr>
          <a:xfrm>
            <a:off x="548640" y="4434840"/>
            <a:ext cx="2697480" cy="1874520"/>
          </a:xfrm>
          <a:prstGeom prst="roundRect">
            <a:avLst>
              <a:gd name="adj" fmla="val 6000"/>
            </a:avLst>
          </a:prstGeom>
          <a:solidFill>
            <a:srgbClr val="1A1E2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49808" y="4599432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In scope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In-person meetings: live + upload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Swiss German + 50+ languages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Speaker recognition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Summaries, minutes, action items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SSO, 100 % on-prem storage</a:t>
            </a:r>
          </a:p>
        </p:txBody>
      </p:sp>
      <p:sp>
        <p:nvSpPr>
          <p:cNvPr id="13" name="Scope card 13"/>
          <p:cNvSpPr/>
          <p:nvPr/>
        </p:nvSpPr>
        <p:spPr>
          <a:xfrm>
            <a:off x="3429000" y="4434840"/>
            <a:ext cx="2697480" cy="1874520"/>
          </a:xfrm>
          <a:prstGeom prst="roundRect">
            <a:avLst>
              <a:gd name="adj" fmla="val 6000"/>
            </a:avLst>
          </a:prstGeom>
          <a:solidFill>
            <a:srgbClr val="1A1E25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630168" y="4599432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Out of scope</a:t>
            </a:r>
          </a:p>
          <a:p>
            <a:pPr algn="l" marL="146304" indent="-146304">
              <a:spcAft>
                <a:spcPts val="300"/>
              </a:spcAft>
              <a:buClr>
                <a:srgbClr val="A3ABB6"/>
              </a:buClr>
              <a:buFont typeface="Arial"/>
              <a:buChar char="–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Teams / Zoom / Meet bots</a:t>
            </a:r>
          </a:p>
          <a:p>
            <a:pPr algn="l" marL="146304" indent="-146304">
              <a:spcAft>
                <a:spcPts val="300"/>
              </a:spcAft>
              <a:buClr>
                <a:srgbClr val="A3ABB6"/>
              </a:buClr>
              <a:buFont typeface="Arial"/>
              <a:buChar char="–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Media bot</a:t>
            </a:r>
          </a:p>
          <a:p>
            <a:pPr algn="l" marL="146304" indent="-146304">
              <a:spcAft>
                <a:spcPts val="300"/>
              </a:spcAft>
              <a:buClr>
                <a:srgbClr val="A3ABB6"/>
              </a:buClr>
              <a:buFont typeface="Arial"/>
              <a:buChar char="–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Mobile and desktop apps</a:t>
            </a:r>
          </a:p>
          <a:p>
            <a:pPr algn="l" marL="146304" indent="-146304">
              <a:spcAft>
                <a:spcPts val="300"/>
              </a:spcAft>
              <a:buClr>
                <a:srgbClr val="A3ABB6"/>
              </a:buClr>
              <a:buFont typeface="Arial"/>
              <a:buChar char="–"/>
            </a:pPr>
            <a:r>
              <a:rPr lang="en-US" sz="1050" dirty="0">
                <a:solidFill>
                  <a:srgbClr val="D3D8DF"/>
                </a:solidFill>
                <a:latin typeface="Arial"/>
                <a:cs typeface="Arial"/>
              </a:rPr>
              <a:t>Any cloud or third-party API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0" y="1371600"/>
            <a:ext cx="5242255" cy="822960"/>
          </a:xfrm>
          <a:prstGeom prst="roundRect">
            <a:avLst>
              <a:gd name="adj" fmla="val 8000"/>
            </a:avLst>
          </a:prstGeom>
          <a:solidFill>
            <a:srgbClr val="1A1E25"/>
          </a:solidFill>
          <a:ln w="9525">
            <a:solidFill>
              <a:srgbClr val="343B46"/>
            </a:solidFill>
          </a:ln>
        </p:spPr>
        <p:txBody>
          <a:bodyPr wrap="square" lIns="201168" tIns="91440" rIns="182880" bIns="9144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MEETING ROOM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Browser on a laptop or room PC  +  USB conference microphone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9021928" y="2194560"/>
            <a:ext cx="0" cy="402336"/>
          </a:xfrm>
          <a:prstGeom prst="straightConnector1">
            <a:avLst/>
          </a:prstGeom>
          <a:ln w="22225">
            <a:solidFill>
              <a:srgbClr val="A3ABB6"/>
            </a:solidFill>
            <a:tailEnd type="triangle" w="med" len="med"/>
          </a:ln>
        </p:spPr>
      </p:cxnSp>
      <p:sp>
        <p:nvSpPr>
          <p:cNvPr id="17" name="Text 17"/>
          <p:cNvSpPr txBox="1"/>
          <p:nvPr/>
        </p:nvSpPr>
        <p:spPr>
          <a:xfrm>
            <a:off x="9159088" y="22494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A3ABB6"/>
                </a:solidFill>
                <a:latin typeface="Arial"/>
                <a:cs typeface="Arial"/>
              </a:rPr>
              <a:t>HTTPS · internal network only</a:t>
            </a:r>
          </a:p>
        </p:txBody>
      </p:sp>
      <p:sp>
        <p:nvSpPr>
          <p:cNvPr id="18" name="Data centre boundary 18"/>
          <p:cNvSpPr/>
          <p:nvPr/>
        </p:nvSpPr>
        <p:spPr>
          <a:xfrm>
            <a:off x="6400800" y="2633472"/>
            <a:ext cx="5242255" cy="3675888"/>
          </a:xfrm>
          <a:prstGeom prst="roundRect">
            <a:avLst>
              <a:gd name="adj" fmla="val 3500"/>
            </a:avLst>
          </a:prstGeom>
          <a:noFill/>
          <a:ln w="15875">
            <a:solidFill>
              <a:srgbClr val="D52B1E"/>
            </a:solidFill>
            <a:prstDash val="dash"/>
          </a:ln>
        </p:spPr>
      </p:sp>
      <p:sp>
        <p:nvSpPr>
          <p:cNvPr id="19" name="Label 19"/>
          <p:cNvSpPr txBox="1"/>
          <p:nvPr/>
        </p:nvSpPr>
        <p:spPr>
          <a:xfrm>
            <a:off x="6629400" y="2761488"/>
            <a:ext cx="478505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YOUR DATA CENTRE  —  NO INTERNET REQUIRED</a:t>
            </a:r>
          </a:p>
        </p:txBody>
      </p:sp>
      <p:sp>
        <p:nvSpPr>
          <p:cNvPr id="20" name="Shape 20"/>
          <p:cNvSpPr/>
          <p:nvPr/>
        </p:nvSpPr>
        <p:spPr>
          <a:xfrm>
            <a:off x="6629400" y="3072384"/>
            <a:ext cx="4785055" cy="658368"/>
          </a:xfrm>
          <a:prstGeom prst="roundRect">
            <a:avLst>
              <a:gd name="adj" fmla="val 9000"/>
            </a:avLst>
          </a:prstGeom>
          <a:solidFill>
            <a:srgbClr val="1A1E25"/>
          </a:solidFill>
          <a:ln>
            <a:noFill/>
          </a:ln>
        </p:spPr>
        <p:txBody>
          <a:bodyPr wrap="square" lIns="182880" tIns="54864" rIns="182880" bIns="54864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Suisse Meets Web</a:t>
            </a:r>
            <a:r>
              <a:rPr lang="en-US" sz="1100" dirty="0">
                <a:solidFill>
                  <a:srgbClr val="A3ABB6"/>
                </a:solidFill>
                <a:latin typeface="Arial"/>
                <a:cs typeface="Arial"/>
              </a:rPr>
              <a:t>   same web app as the cloud, self-hosted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9021928" y="3730752"/>
            <a:ext cx="0" cy="201168"/>
          </a:xfrm>
          <a:prstGeom prst="straightConnector1">
            <a:avLst/>
          </a:prstGeom>
          <a:ln w="19050">
            <a:solidFill>
              <a:srgbClr val="A3ABB6"/>
            </a:solidFill>
            <a:tailEnd type="triangle" w="med" len="med"/>
          </a:ln>
        </p:spPr>
      </p:cxnSp>
      <p:sp>
        <p:nvSpPr>
          <p:cNvPr id="22" name="AI appliance 22"/>
          <p:cNvSpPr/>
          <p:nvPr/>
        </p:nvSpPr>
        <p:spPr>
          <a:xfrm>
            <a:off x="6629400" y="3931920"/>
            <a:ext cx="4785055" cy="1371600"/>
          </a:xfrm>
          <a:prstGeom prst="roundRect">
            <a:avLst>
              <a:gd name="adj" fmla="val 6000"/>
            </a:avLst>
          </a:prstGeom>
          <a:solidFill>
            <a:srgbClr val="252A33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812280" y="4023360"/>
            <a:ext cx="44192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80" dirty="0">
                <a:solidFill>
                  <a:srgbClr val="A3ABB6"/>
                </a:solidFill>
                <a:latin typeface="Arial"/>
                <a:cs typeface="Arial"/>
              </a:rPr>
              <a:t>AI APPLIANCE  ·  1 GPU SERVER, ALL INFERENCE LOCAL</a:t>
            </a:r>
          </a:p>
        </p:txBody>
      </p:sp>
      <p:sp>
        <p:nvSpPr>
          <p:cNvPr id="24" name="Shape 24"/>
          <p:cNvSpPr/>
          <p:nvPr/>
        </p:nvSpPr>
        <p:spPr>
          <a:xfrm>
            <a:off x="6812280" y="4389120"/>
            <a:ext cx="1399946" cy="786384"/>
          </a:xfrm>
          <a:prstGeom prst="roundRect">
            <a:avLst>
              <a:gd name="adj" fmla="val 9000"/>
            </a:avLst>
          </a:prstGeom>
          <a:solidFill>
            <a:srgbClr val="343B46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52B1E"/>
                </a:solidFill>
                <a:latin typeface="Arial"/>
                <a:cs typeface="Arial"/>
              </a:rPr>
              <a:t>1  </a:t>
            </a: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Whisper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000" dirty="0">
                <a:solidFill>
                  <a:srgbClr val="D3D8DF"/>
                </a:solidFill>
                <a:latin typeface="Arial"/>
                <a:cs typeface="Arial"/>
              </a:rPr>
              <a:t>Transcription</a:t>
            </a:r>
          </a:p>
        </p:txBody>
      </p:sp>
      <p:sp>
        <p:nvSpPr>
          <p:cNvPr id="25" name="Shape 25"/>
          <p:cNvSpPr/>
          <p:nvPr/>
        </p:nvSpPr>
        <p:spPr>
          <a:xfrm>
            <a:off x="8321954" y="4389120"/>
            <a:ext cx="1399946" cy="786384"/>
          </a:xfrm>
          <a:prstGeom prst="roundRect">
            <a:avLst>
              <a:gd name="adj" fmla="val 9000"/>
            </a:avLst>
          </a:prstGeom>
          <a:solidFill>
            <a:srgbClr val="343B46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52B1E"/>
                </a:solidFill>
                <a:latin typeface="Arial"/>
                <a:cs typeface="Arial"/>
              </a:rPr>
              <a:t>2  </a:t>
            </a: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pyannote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000" dirty="0">
                <a:solidFill>
                  <a:srgbClr val="D3D8DF"/>
                </a:solidFill>
                <a:latin typeface="Arial"/>
                <a:cs typeface="Arial"/>
              </a:rPr>
              <a:t>Speaker diarization</a:t>
            </a:r>
          </a:p>
        </p:txBody>
      </p:sp>
      <p:sp>
        <p:nvSpPr>
          <p:cNvPr id="26" name="Shape 26"/>
          <p:cNvSpPr/>
          <p:nvPr/>
        </p:nvSpPr>
        <p:spPr>
          <a:xfrm>
            <a:off x="9831629" y="4389120"/>
            <a:ext cx="1399946" cy="786384"/>
          </a:xfrm>
          <a:prstGeom prst="roundRect">
            <a:avLst>
              <a:gd name="adj" fmla="val 9000"/>
            </a:avLst>
          </a:prstGeom>
          <a:solidFill>
            <a:srgbClr val="343B46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52B1E"/>
                </a:solidFill>
                <a:latin typeface="Arial"/>
                <a:cs typeface="Arial"/>
              </a:rPr>
              <a:t>3  </a:t>
            </a: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Qwen3.8-27B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000" dirty="0">
                <a:solidFill>
                  <a:srgbClr val="D3D8DF"/>
                </a:solidFill>
                <a:latin typeface="Arial"/>
                <a:cs typeface="Arial"/>
              </a:rPr>
              <a:t>Summaries &amp; minutes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9021928" y="5303520"/>
            <a:ext cx="0" cy="201168"/>
          </a:xfrm>
          <a:prstGeom prst="straightConnector1">
            <a:avLst/>
          </a:prstGeom>
          <a:ln w="19050">
            <a:solidFill>
              <a:srgbClr val="A3ABB6"/>
            </a:solidFill>
            <a:tailEnd type="triangle" w="med" len="med"/>
          </a:ln>
        </p:spPr>
      </p:cxnSp>
      <p:sp>
        <p:nvSpPr>
          <p:cNvPr id="28" name="Shape 28"/>
          <p:cNvSpPr/>
          <p:nvPr/>
        </p:nvSpPr>
        <p:spPr>
          <a:xfrm>
            <a:off x="6629400" y="5504688"/>
            <a:ext cx="4785055" cy="658368"/>
          </a:xfrm>
          <a:prstGeom prst="roundRect">
            <a:avLst>
              <a:gd name="adj" fmla="val 9000"/>
            </a:avLst>
          </a:prstGeom>
          <a:solidFill>
            <a:srgbClr val="1A1E25"/>
          </a:solidFill>
          <a:ln>
            <a:noFill/>
          </a:ln>
        </p:spPr>
        <p:txBody>
          <a:bodyPr wrap="square" lIns="182880" tIns="54864" rIns="182880" bIns="54864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On-prem storage</a:t>
            </a:r>
            <a:r>
              <a:rPr lang="en-US" sz="1100" dirty="0">
                <a:solidFill>
                  <a:srgbClr val="A3ABB6"/>
                </a:solidFill>
                <a:latin typeface="Arial"/>
                <a:cs typeface="Arial"/>
              </a:rPr>
              <a:t>   encrypted, on your own SAN / 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mark 3"/>
          <p:cNvSpPr/>
          <p:nvPr/>
        </p:nvSpPr>
        <p:spPr>
          <a:xfrm>
            <a:off x="9128455" y="45720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cross 4"/>
          <p:cNvSpPr/>
          <p:nvPr/>
        </p:nvSpPr>
        <p:spPr>
          <a:xfrm>
            <a:off x="9238183" y="509321"/>
            <a:ext cx="54864" cy="1700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cross 5"/>
          <p:cNvSpPr/>
          <p:nvPr/>
        </p:nvSpPr>
        <p:spPr>
          <a:xfrm>
            <a:off x="9180576" y="566928"/>
            <a:ext cx="17007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dmark 6"/>
          <p:cNvSpPr txBox="1"/>
          <p:nvPr/>
        </p:nvSpPr>
        <p:spPr>
          <a:xfrm>
            <a:off x="9530791" y="411480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Suisse Meets</a:t>
            </a:r>
            <a:r>
              <a:rPr lang="en-US" sz="1200" dirty="0">
                <a:solidFill>
                  <a:srgbClr val="5B6470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F2328"/>
                </a:solidFill>
                <a:latin typeface="Arial"/>
                <a:cs typeface="Arial"/>
              </a:rPr>
              <a:t>AI stack &amp; recommended hardware</a:t>
            </a:r>
          </a:p>
        </p:txBody>
      </p:sp>
      <p:sp>
        <p:nvSpPr>
          <p:cNvPr id="8" name="Subtitle 8"/>
          <p:cNvSpPr txBox="1"/>
          <p:nvPr/>
        </p:nvSpPr>
        <p:spPr>
          <a:xfrm>
            <a:off x="548640" y="950976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5B6470"/>
                </a:solidFill>
                <a:latin typeface="Arial"/>
                <a:cs typeface="Arial"/>
              </a:rPr>
              <a:t>Open, commercially usable models — the full pipeline runs locally on a single GPU server.</a:t>
            </a:r>
          </a:p>
        </p:txBody>
      </p:sp>
      <p:sp>
        <p:nvSpPr>
          <p:cNvPr id="9" name="Label 9"/>
          <p:cNvSpPr txBox="1"/>
          <p:nvPr/>
        </p:nvSpPr>
        <p:spPr>
          <a:xfrm>
            <a:off x="548640" y="14173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MODELS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69164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11" name="Badge 11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43584" y="1837944"/>
            <a:ext cx="2692298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950" b="1" spc="100" dirty="0">
                <a:solidFill>
                  <a:srgbClr val="5B6470"/>
                </a:solidFill>
                <a:latin typeface="Arial"/>
                <a:cs typeface="Arial"/>
              </a:rPr>
              <a:t>TRANSCRIPTION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Arial"/>
                <a:cs typeface="Arial"/>
              </a:rPr>
              <a:t>Whisper large-v3-turbo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49808" y="2441448"/>
            <a:ext cx="311292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Swiss-German fine-tune → Standard German text, plus 50+ languages. Live and batch via faster-whisper. ≈ 6 GB VRAM.</a:t>
            </a:r>
          </a:p>
        </p:txBody>
      </p:sp>
      <p:sp>
        <p:nvSpPr>
          <p:cNvPr id="14" name="Shape 14"/>
          <p:cNvSpPr/>
          <p:nvPr/>
        </p:nvSpPr>
        <p:spPr>
          <a:xfrm>
            <a:off x="4338218" y="169164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15" name="Badge 15"/>
          <p:cNvSpPr/>
          <p:nvPr/>
        </p:nvSpPr>
        <p:spPr>
          <a:xfrm>
            <a:off x="4539386" y="1892808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33162" y="1837944"/>
            <a:ext cx="2692298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950" b="1" spc="100" dirty="0">
                <a:solidFill>
                  <a:srgbClr val="5B6470"/>
                </a:solidFill>
                <a:latin typeface="Arial"/>
                <a:cs typeface="Arial"/>
              </a:rPr>
              <a:t>SPEAKER DIARIZATION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Arial"/>
                <a:cs typeface="Arial"/>
              </a:rPr>
              <a:t>pyannote community-1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539386" y="2441448"/>
            <a:ext cx="311292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Who spoke when, with no fixed speaker limit. Fully self-hosted, no API calls. ≈ 2 GB VRAM, 1–2 min per audio hour.</a:t>
            </a:r>
          </a:p>
        </p:txBody>
      </p:sp>
      <p:sp>
        <p:nvSpPr>
          <p:cNvPr id="18" name="Shape 18"/>
          <p:cNvSpPr/>
          <p:nvPr/>
        </p:nvSpPr>
        <p:spPr>
          <a:xfrm>
            <a:off x="8127797" y="169164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19" name="Badge 19"/>
          <p:cNvSpPr/>
          <p:nvPr/>
        </p:nvSpPr>
        <p:spPr>
          <a:xfrm>
            <a:off x="8328965" y="1892808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22741" y="1837944"/>
            <a:ext cx="2692298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950" b="1" spc="100" dirty="0">
                <a:solidFill>
                  <a:srgbClr val="5B6470"/>
                </a:solidFill>
                <a:latin typeface="Arial"/>
                <a:cs typeface="Arial"/>
              </a:rPr>
              <a:t>SUMMARIES &amp; MINUTES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Arial"/>
                <a:cs typeface="Arial"/>
              </a:rPr>
              <a:t>Qwen3.8-27B (FP8)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28965" y="2441448"/>
            <a:ext cx="311292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Minutes, action items, Q&amp;A on transcripts. Apache 2.0, 262k context, strong German. Served by vLLM, ≈ 28 GB + cache.</a:t>
            </a:r>
          </a:p>
        </p:txBody>
      </p:sp>
      <p:sp>
        <p:nvSpPr>
          <p:cNvPr id="22" name="Label 22"/>
          <p:cNvSpPr txBox="1"/>
          <p:nvPr/>
        </p:nvSpPr>
        <p:spPr>
          <a:xfrm>
            <a:off x="548640" y="33649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HARDWARE OPTIONS</a:t>
            </a:r>
          </a:p>
        </p:txBody>
      </p:sp>
      <p:sp>
        <p:nvSpPr>
          <p:cNvPr id="23" name="Shape 23"/>
          <p:cNvSpPr/>
          <p:nvPr/>
        </p:nvSpPr>
        <p:spPr>
          <a:xfrm>
            <a:off x="548640" y="3639312"/>
            <a:ext cx="3515258" cy="2487168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77240" y="3822192"/>
            <a:ext cx="305805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5B6470"/>
                </a:solidFill>
                <a:latin typeface="Arial"/>
                <a:cs typeface="Arial"/>
              </a:rPr>
              <a:t>COMPACT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77240" y="4133088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Arial"/>
                <a:cs typeface="Arial"/>
              </a:rPr>
              <a:t>Mac Studio M5 Ultra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77240" y="4480560"/>
            <a:ext cx="30580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5B6470"/>
                </a:solidFill>
                <a:latin typeface="Arial"/>
                <a:cs typeface="Arial"/>
              </a:rPr>
              <a:t>96 GB unified memory · 2 TB SSD · quiet desktop unit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777240" y="4919472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Up to ~30 users, 2–3 parallel live sessions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Plug &amp; play, very low power draw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No ECC, no remote management, single PSU → pilots, practices, law firms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77240" y="5705856"/>
            <a:ext cx="305805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Arial"/>
                <a:cs typeface="Arial"/>
              </a:rPr>
              <a:t>≈ CHF 6–8k</a:t>
            </a:r>
            <a:r>
              <a:rPr lang="en-US" sz="950" dirty="0">
                <a:solidFill>
                  <a:srgbClr val="5B6470"/>
                </a:solidFill>
                <a:latin typeface="Arial"/>
                <a:cs typeface="Arial"/>
              </a:rPr>
              <a:t>   hardware, indicative</a:t>
            </a:r>
          </a:p>
        </p:txBody>
      </p:sp>
      <p:sp>
        <p:nvSpPr>
          <p:cNvPr id="29" name="Shape 29"/>
          <p:cNvSpPr/>
          <p:nvPr/>
        </p:nvSpPr>
        <p:spPr>
          <a:xfrm>
            <a:off x="4338218" y="3639312"/>
            <a:ext cx="3515258" cy="2487168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4566818" y="3822192"/>
            <a:ext cx="1234440" cy="246888"/>
          </a:xfrm>
          <a:prstGeom prst="roundRect">
            <a:avLst>
              <a:gd name="adj" fmla="val 50000"/>
            </a:avLst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00" b="1" spc="100" dirty="0">
                <a:solidFill>
                  <a:srgbClr val="FFFFFF"/>
                </a:solidFill>
                <a:latin typeface="Arial"/>
                <a:cs typeface="Arial"/>
              </a:rPr>
              <a:t>RECOMMENDED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566818" y="4133088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2U GPU server + RTX PRO 6000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66818" y="4480560"/>
            <a:ext cx="30580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A3ABB6"/>
                </a:solidFill>
                <a:latin typeface="Arial"/>
                <a:cs typeface="Arial"/>
              </a:rPr>
              <a:t>NVIDIA RTX PRO 6000 Blackwell Server Edition 96 GB · Dell R760xa, HPE DL380a or Supermicro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566818" y="4919472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D3D8DF"/>
                </a:solidFill>
                <a:latin typeface="Arial"/>
                <a:cs typeface="Arial"/>
              </a:rPr>
              <a:t>50–300 users, ~15 parallel live sessions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D3D8DF"/>
                </a:solidFill>
                <a:latin typeface="Arial"/>
                <a:cs typeface="Arial"/>
              </a:rPr>
              <a:t>1-hour meeting → finished minutes in ~3 min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D3D8DF"/>
                </a:solidFill>
                <a:latin typeface="Arial"/>
                <a:cs typeface="Arial"/>
              </a:rPr>
              <a:t>ECC, iDRAC/iLO, redundant PSUs, 5-year on-site support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66818" y="5705856"/>
            <a:ext cx="305805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≈ CHF 25–40k</a:t>
            </a:r>
            <a:r>
              <a:rPr lang="en-US" sz="950" dirty="0">
                <a:solidFill>
                  <a:srgbClr val="A3ABB6"/>
                </a:solidFill>
                <a:latin typeface="Arial"/>
                <a:cs typeface="Arial"/>
              </a:rPr>
              <a:t>   hardware, indicative</a:t>
            </a:r>
          </a:p>
        </p:txBody>
      </p:sp>
      <p:sp>
        <p:nvSpPr>
          <p:cNvPr id="35" name="Shape 35"/>
          <p:cNvSpPr/>
          <p:nvPr/>
        </p:nvSpPr>
        <p:spPr>
          <a:xfrm>
            <a:off x="8127797" y="3639312"/>
            <a:ext cx="3515258" cy="2487168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356397" y="3822192"/>
            <a:ext cx="305805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50" b="1" spc="100" dirty="0">
                <a:solidFill>
                  <a:srgbClr val="5B6470"/>
                </a:solidFill>
                <a:latin typeface="Arial"/>
                <a:cs typeface="Arial"/>
              </a:rPr>
              <a:t>ENTERPRISE HA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356397" y="4133088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Arial"/>
                <a:cs typeface="Arial"/>
              </a:rPr>
              <a:t>2 GPU servers, active/active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356397" y="4480560"/>
            <a:ext cx="30580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5B6470"/>
                </a:solidFill>
                <a:latin typeface="Arial"/>
                <a:cs typeface="Arial"/>
              </a:rPr>
              <a:t>Each with 2 × RTX PRO 6000 · load-balanced, no single point of failure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356397" y="4919472"/>
            <a:ext cx="305805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300–1,500 users, 40+ parallel live sessions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Headroom for larger LLMs (100B+ class)</a:t>
            </a:r>
          </a:p>
          <a:p>
            <a:pPr algn="l" marL="146304" indent="-146304">
              <a:spcAft>
                <a:spcPts val="3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Rolling updates without downtime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356397" y="5705856"/>
            <a:ext cx="305805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Arial"/>
                <a:cs typeface="Arial"/>
              </a:rPr>
              <a:t>≈ CHF 90–130k</a:t>
            </a:r>
            <a:r>
              <a:rPr lang="en-US" sz="950" dirty="0">
                <a:solidFill>
                  <a:srgbClr val="5B6470"/>
                </a:solidFill>
                <a:latin typeface="Arial"/>
                <a:cs typeface="Arial"/>
              </a:rPr>
              <a:t>   hardware, indicative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950" b="1" dirty="0">
                <a:solidFill>
                  <a:srgbClr val="5B6470"/>
                </a:solidFill>
                <a:latin typeface="Arial"/>
                <a:cs typeface="Arial"/>
              </a:rPr>
              <a:t>Evaluated, not recommended for production: </a:t>
            </a:r>
            <a:r>
              <a:rPr lang="en-US" sz="950" dirty="0">
                <a:solidFill>
                  <a:srgbClr val="5B6470"/>
                </a:solidFill>
                <a:latin typeface="Arial"/>
                <a:cs typeface="Arial"/>
              </a:rPr>
              <a:t>NVIDIA DGX Spark — 128 GB memory, but 273 GB/s bandwidth makes text generation ~6–7× slower than an RTX PRO 6000. Prices: hardware only, excl. VAT and Suisse Meets licence, Sept 2026; GPU street prices are volatile due to the 2026 memory shortage.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mark 3"/>
          <p:cNvSpPr/>
          <p:nvPr/>
        </p:nvSpPr>
        <p:spPr>
          <a:xfrm>
            <a:off x="9128455" y="45720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D52B1E"/>
          </a:solidFill>
          <a:ln>
            <a:noFill/>
          </a:ln>
        </p:spPr>
      </p:sp>
      <p:sp>
        <p:nvSpPr>
          <p:cNvPr id="4" name="Logo cross 4"/>
          <p:cNvSpPr/>
          <p:nvPr/>
        </p:nvSpPr>
        <p:spPr>
          <a:xfrm>
            <a:off x="9238183" y="509321"/>
            <a:ext cx="54864" cy="1700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ogo cross 5"/>
          <p:cNvSpPr/>
          <p:nvPr/>
        </p:nvSpPr>
        <p:spPr>
          <a:xfrm>
            <a:off x="9180576" y="566928"/>
            <a:ext cx="17007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Wordmark 6"/>
          <p:cNvSpPr txBox="1"/>
          <p:nvPr/>
        </p:nvSpPr>
        <p:spPr>
          <a:xfrm>
            <a:off x="9530791" y="411480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Suisse Meets</a:t>
            </a:r>
            <a:r>
              <a:rPr lang="en-US" sz="1200" dirty="0">
                <a:solidFill>
                  <a:srgbClr val="5B6470"/>
                </a:solidFill>
                <a:latin typeface="Arial"/>
                <a:cs typeface="Arial"/>
              </a:rPr>
              <a:t>  On-Premise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F2328"/>
                </a:solidFill>
                <a:latin typeface="Arial"/>
                <a:cs typeface="Arial"/>
              </a:rPr>
              <a:t>Sizing, rollout &amp; operations</a:t>
            </a:r>
          </a:p>
        </p:txBody>
      </p:sp>
      <p:sp>
        <p:nvSpPr>
          <p:cNvPr id="8" name="Subtitle 8"/>
          <p:cNvSpPr txBox="1"/>
          <p:nvPr/>
        </p:nvSpPr>
        <p:spPr>
          <a:xfrm>
            <a:off x="548640" y="950976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5B6470"/>
                </a:solidFill>
                <a:latin typeface="Arial"/>
                <a:cs typeface="Arial"/>
              </a:rPr>
              <a:t>Figures for the recommended 1-GPU server. From order to go-live in about 6–8 weeks, driven mainly by GPU lead time.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481328"/>
            <a:ext cx="3017520" cy="4645152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>
            <a:noFill/>
          </a:ln>
        </p:spPr>
      </p:sp>
      <p:sp>
        <p:nvSpPr>
          <p:cNvPr id="10" name="Label 10"/>
          <p:cNvSpPr txBox="1"/>
          <p:nvPr/>
        </p:nvSpPr>
        <p:spPr>
          <a:xfrm>
            <a:off x="822960" y="17099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CAPACITY (ESTIMATED)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" y="204825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000" b="1" dirty="0">
                <a:solidFill>
                  <a:srgbClr val="D52B1E"/>
                </a:solidFill>
                <a:latin typeface="Arial"/>
                <a:cs typeface="Arial"/>
              </a:rPr>
              <a:t>~15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" y="272491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D3D8DF"/>
                </a:solidFill>
                <a:latin typeface="Arial"/>
                <a:cs typeface="Arial"/>
              </a:rPr>
              <a:t>parallel live transcriptions on one GPU, while summaries run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341985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000" b="1" dirty="0">
                <a:solidFill>
                  <a:srgbClr val="D52B1E"/>
                </a:solidFill>
                <a:latin typeface="Arial"/>
                <a:cs typeface="Arial"/>
              </a:rPr>
              <a:t>≈ 3 min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60" y="409651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D3D8DF"/>
                </a:solidFill>
                <a:latin typeface="Arial"/>
                <a:cs typeface="Arial"/>
              </a:rPr>
              <a:t>from the end of a 1-hour meeting to finished, speaker-labelled minutes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" y="479145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000" b="1" dirty="0">
                <a:solidFill>
                  <a:srgbClr val="D52B1E"/>
                </a:solidFill>
                <a:latin typeface="Arial"/>
                <a:cs typeface="Arial"/>
              </a:rPr>
              <a:t>&lt; 0.5 TB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" y="546811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D3D8DF"/>
                </a:solidFill>
                <a:latin typeface="Arial"/>
                <a:cs typeface="Arial"/>
              </a:rPr>
              <a:t>storage per year for 200 users (compressed audio + text)</a:t>
            </a:r>
          </a:p>
        </p:txBody>
      </p:sp>
      <p:sp>
        <p:nvSpPr>
          <p:cNvPr id="17" name="Label 17"/>
          <p:cNvSpPr txBox="1"/>
          <p:nvPr/>
        </p:nvSpPr>
        <p:spPr>
          <a:xfrm>
            <a:off x="3977640" y="148132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ROLLOUT</a:t>
            </a:r>
          </a:p>
        </p:txBody>
      </p:sp>
      <p:sp>
        <p:nvSpPr>
          <p:cNvPr id="18" name="Timeline 18"/>
          <p:cNvSpPr/>
          <p:nvPr/>
        </p:nvSpPr>
        <p:spPr>
          <a:xfrm>
            <a:off x="4151376" y="2212848"/>
            <a:ext cx="18288" cy="3072384"/>
          </a:xfrm>
          <a:prstGeom prst="rect">
            <a:avLst/>
          </a:prstGeom>
          <a:solidFill>
            <a:srgbClr val="D5D9DF"/>
          </a:solidFill>
          <a:ln>
            <a:noFill/>
          </a:ln>
        </p:spPr>
      </p:sp>
      <p:sp>
        <p:nvSpPr>
          <p:cNvPr id="19" name="Badge 19"/>
          <p:cNvSpPr/>
          <p:nvPr/>
        </p:nvSpPr>
        <p:spPr>
          <a:xfrm>
            <a:off x="3977640" y="1847088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526280" y="1828800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Arial"/>
                <a:cs typeface="Arial"/>
              </a:rPr>
              <a:t>Scope &amp; order</a:t>
            </a:r>
            <a:r>
              <a:rPr lang="en-US" sz="950" b="1" spc="80" dirty="0">
                <a:solidFill>
                  <a:srgbClr val="D52B1E"/>
                </a:solidFill>
                <a:latin typeface="Arial"/>
                <a:cs typeface="Arial"/>
              </a:rPr>
              <a:t>   WEEK 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26280" y="2231136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Users, rooms, retention rules, SSO. Order hardware (GPU lead time 4–8 weeks).</a:t>
            </a:r>
          </a:p>
        </p:txBody>
      </p:sp>
      <p:sp>
        <p:nvSpPr>
          <p:cNvPr id="22" name="Badge 22"/>
          <p:cNvSpPr/>
          <p:nvPr/>
        </p:nvSpPr>
        <p:spPr>
          <a:xfrm>
            <a:off x="3977640" y="2916936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26280" y="2898648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Arial"/>
                <a:cs typeface="Arial"/>
              </a:rPr>
              <a:t>Install</a:t>
            </a:r>
            <a:r>
              <a:rPr lang="en-US" sz="950" b="1" spc="80" dirty="0">
                <a:solidFill>
                  <a:srgbClr val="D52B1E"/>
                </a:solidFill>
                <a:latin typeface="Arial"/>
                <a:cs typeface="Arial"/>
              </a:rPr>
              <a:t>   ON DELIVERY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526280" y="3300984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Rack the server, install the signed offline bundle (Docker / k3s), internal TLS certificate.</a:t>
            </a:r>
          </a:p>
        </p:txBody>
      </p:sp>
      <p:sp>
        <p:nvSpPr>
          <p:cNvPr id="25" name="Badge 25"/>
          <p:cNvSpPr/>
          <p:nvPr/>
        </p:nvSpPr>
        <p:spPr>
          <a:xfrm>
            <a:off x="3977640" y="3986784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526280" y="3968496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Arial"/>
                <a:cs typeface="Arial"/>
              </a:rPr>
              <a:t>Integrate &amp; test</a:t>
            </a:r>
            <a:r>
              <a:rPr lang="en-US" sz="950" b="1" spc="80" dirty="0">
                <a:solidFill>
                  <a:srgbClr val="D52B1E"/>
                </a:solidFill>
                <a:latin typeface="Arial"/>
                <a:cs typeface="Arial"/>
              </a:rPr>
              <a:t>   +1 WEEK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526280" y="4370832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SSO (Entra ID, ADFS, LDAP), storage, backup, SIEM logging. Acceptance test with real Swiss-German meetings.</a:t>
            </a:r>
          </a:p>
        </p:txBody>
      </p:sp>
      <p:sp>
        <p:nvSpPr>
          <p:cNvPr id="28" name="Badge 28"/>
          <p:cNvSpPr/>
          <p:nvPr/>
        </p:nvSpPr>
        <p:spPr>
          <a:xfrm>
            <a:off x="3977640" y="5056632"/>
            <a:ext cx="365760" cy="365760"/>
          </a:xfrm>
          <a:prstGeom prst="ellipse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526280" y="5038344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Arial"/>
                <a:cs typeface="Arial"/>
              </a:rPr>
              <a:t>Pilot → go-live</a:t>
            </a:r>
            <a:r>
              <a:rPr lang="en-US" sz="950" b="1" spc="80" dirty="0">
                <a:solidFill>
                  <a:srgbClr val="D52B1E"/>
                </a:solidFill>
                <a:latin typeface="Arial"/>
                <a:cs typeface="Arial"/>
              </a:rPr>
              <a:t>   +2–4 WEEKS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526280" y="5440680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414B"/>
                </a:solidFill>
                <a:latin typeface="Arial"/>
                <a:cs typeface="Arial"/>
              </a:rPr>
              <a:t>Pilot group, room-microphone check, short training, then roll-out to all users.</a:t>
            </a:r>
          </a:p>
        </p:txBody>
      </p:sp>
      <p:sp>
        <p:nvSpPr>
          <p:cNvPr id="31" name="Shape 31"/>
          <p:cNvSpPr/>
          <p:nvPr/>
        </p:nvSpPr>
        <p:spPr>
          <a:xfrm>
            <a:off x="8275320" y="1481328"/>
            <a:ext cx="3367735" cy="4645152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32" name="Label 32"/>
          <p:cNvSpPr txBox="1"/>
          <p:nvPr/>
        </p:nvSpPr>
        <p:spPr>
          <a:xfrm>
            <a:off x="8549640" y="1709928"/>
            <a:ext cx="281909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00" b="1" spc="120" dirty="0">
                <a:solidFill>
                  <a:srgbClr val="D52B1E"/>
                </a:solidFill>
                <a:latin typeface="Arial"/>
                <a:cs typeface="Arial"/>
              </a:rPr>
              <a:t>OPERATIONS &amp; SECURITY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549640" y="2048256"/>
            <a:ext cx="2819095" cy="3913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64592" indent="-164592">
              <a:lnSpc>
                <a:spcPct val="105000"/>
              </a:lnSpc>
              <a:spcAft>
                <a:spcPts val="10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Air-gap capable. </a:t>
            </a:r>
            <a:r>
              <a:rPr lang="en-US" sz="1200" dirty="0">
                <a:solidFill>
                  <a:srgbClr val="3A414B"/>
                </a:solidFill>
                <a:latin typeface="Arial"/>
                <a:cs typeface="Arial"/>
              </a:rPr>
              <a:t>No outbound internet; updates ship as signed offline bundles (quarterly + security fixes).</a:t>
            </a:r>
          </a:p>
          <a:p>
            <a:pPr algn="l" marL="164592" indent="-164592">
              <a:lnSpc>
                <a:spcPct val="105000"/>
              </a:lnSpc>
              <a:spcAft>
                <a:spcPts val="10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Your storage, your rules. </a:t>
            </a:r>
            <a:r>
              <a:rPr lang="en-US" sz="1200" dirty="0">
                <a:solidFill>
                  <a:srgbClr val="3A414B"/>
                </a:solidFill>
                <a:latin typeface="Arial"/>
                <a:cs typeface="Arial"/>
              </a:rPr>
              <a:t>Recordings, transcripts and summaries stay on your SAN/NAS, with configurable retention and deletion.</a:t>
            </a:r>
          </a:p>
          <a:p>
            <a:pPr algn="l" marL="164592" indent="-164592">
              <a:lnSpc>
                <a:spcPct val="105000"/>
              </a:lnSpc>
              <a:spcAft>
                <a:spcPts val="10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Encrypted. </a:t>
            </a:r>
            <a:r>
              <a:rPr lang="en-US" sz="1200" dirty="0">
                <a:solidFill>
                  <a:srgbClr val="3A414B"/>
                </a:solidFill>
                <a:latin typeface="Arial"/>
                <a:cs typeface="Arial"/>
              </a:rPr>
              <a:t>AES-256 at rest, TLS 1.3 in transit, role-based access and audit log.</a:t>
            </a:r>
          </a:p>
          <a:p>
            <a:pPr algn="l" marL="164592" indent="-164592">
              <a:lnSpc>
                <a:spcPct val="105000"/>
              </a:lnSpc>
              <a:spcAft>
                <a:spcPts val="10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Support on your terms. </a:t>
            </a:r>
            <a:r>
              <a:rPr lang="en-US" sz="1200" dirty="0">
                <a:solidFill>
                  <a:srgbClr val="3A414B"/>
                </a:solidFill>
                <a:latin typeface="Arial"/>
                <a:cs typeface="Arial"/>
              </a:rPr>
              <a:t>Remote access only via your VPN and only on request; SLA options.</a:t>
            </a:r>
          </a:p>
          <a:p>
            <a:pPr algn="l" marL="164592" indent="-164592">
              <a:lnSpc>
                <a:spcPct val="105000"/>
              </a:lnSpc>
              <a:spcAft>
                <a:spcPts val="1000"/>
              </a:spcAft>
              <a:buClr>
                <a:srgbClr val="D52B1E"/>
              </a:buClr>
              <a:buFont typeface="Arial"/>
              <a:buChar char="•"/>
            </a:pPr>
            <a:r>
              <a:rPr lang="en-US" sz="1200" b="1" dirty="0">
                <a:solidFill>
                  <a:srgbClr val="1F2328"/>
                </a:solidFill>
                <a:latin typeface="Arial"/>
                <a:cs typeface="Arial"/>
              </a:rPr>
              <a:t>Room audio matters. </a:t>
            </a:r>
            <a:r>
              <a:rPr lang="en-US" sz="1200" dirty="0">
                <a:solidFill>
                  <a:srgbClr val="3A414B"/>
                </a:solidFill>
                <a:latin typeface="Arial"/>
                <a:cs typeface="Arial"/>
              </a:rPr>
              <a:t>One USB conference mic per room (e.g. Jabra Speak2 75) is the biggest lever for accuracy.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950" dirty="0">
                <a:solidFill>
                  <a:srgbClr val="5B6470"/>
                </a:solidFill>
                <a:latin typeface="Arial"/>
                <a:cs typeface="Arial"/>
              </a:rPr>
              <a:t>Assumptions: ≤ 15 concurrent meetings, ~10 h of recorded meetings per user per month, audio stored as Opus at 32 kbit/s. Throughput figures are engineering estimates, to be confirmed in the acceptance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isse Meets">
  <a:themeElements>
    <a:clrScheme name="Suisse Meets">
      <a:dk1>
        <a:srgbClr val="1F2328"/>
      </a:dk1>
      <a:lt1>
        <a:srgbClr val="FFFFFF"/>
      </a:lt1>
      <a:dk2>
        <a:srgbClr val="0F1115"/>
      </a:dk2>
      <a:lt2>
        <a:srgbClr val="F3F4F6"/>
      </a:lt2>
      <a:accent1>
        <a:srgbClr val="D52B1E"/>
      </a:accent1>
      <a:accent2>
        <a:srgbClr val="5B6470"/>
      </a:accent2>
      <a:accent3>
        <a:srgbClr val="0F1115"/>
      </a:accent3>
      <a:accent4>
        <a:srgbClr val="A3ABB6"/>
      </a:accent4>
      <a:accent5>
        <a:srgbClr val="8C1C13"/>
      </a:accent5>
      <a:accent6>
        <a:srgbClr val="D3D8DF"/>
      </a:accent6>
      <a:hlink>
        <a:srgbClr val="D52B1E"/>
      </a:hlink>
      <a:folHlink>
        <a:srgbClr val="5B6470"/>
      </a:folHlink>
    </a:clrScheme>
    <a:fontScheme name="Suisse Mee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isse Mee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Suisse Meets On-Premise</dc:title>
  <dc:creator>Suisse Meets</dc:creator>
</cp:coreProperties>
</file>