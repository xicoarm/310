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3"/>
          <p:cNvSpPr/>
          <p:nvPr/>
        </p:nvSpPr>
        <p:spPr>
          <a:xfrm>
            <a:off x="548640" y="5029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D52B1E"/>
          </a:solidFill>
          <a:ln>
            <a:noFill/>
          </a:ln>
        </p:spPr>
      </p:sp>
      <p:sp>
        <p:nvSpPr>
          <p:cNvPr id="4" name="Logo Kreuz 4"/>
          <p:cNvSpPr/>
          <p:nvPr/>
        </p:nvSpPr>
        <p:spPr>
          <a:xfrm>
            <a:off x="716890" y="582839"/>
            <a:ext cx="84125" cy="26078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ogo Kreuz 5"/>
          <p:cNvSpPr/>
          <p:nvPr/>
        </p:nvSpPr>
        <p:spPr>
          <a:xfrm>
            <a:off x="628559" y="671170"/>
            <a:ext cx="260787" cy="841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Wortmarke 6"/>
          <p:cNvSpPr txBox="1"/>
          <p:nvPr/>
        </p:nvSpPr>
        <p:spPr>
          <a:xfrm>
            <a:off x="1097280" y="457200"/>
            <a:ext cx="411480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840" b="1" dirty="0">
                <a:solidFill>
                  <a:srgbClr val="FFFFFF"/>
                </a:solidFill>
                <a:latin typeface="Arial"/>
                <a:cs typeface="Arial"/>
              </a:rPr>
              <a:t>Suisse Meets</a:t>
            </a:r>
            <a:r>
              <a:rPr lang="de-CH" sz="1840" dirty="0">
                <a:solidFill>
                  <a:srgbClr val="A3ABB6"/>
                </a:solidFill>
                <a:latin typeface="Arial"/>
                <a:cs typeface="Arial"/>
              </a:rPr>
              <a:t>  On-Premise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300" b="1" spc="150" dirty="0">
                <a:solidFill>
                  <a:srgbClr val="D52B1E"/>
                </a:solidFill>
                <a:latin typeface="Arial"/>
                <a:cs typeface="Arial"/>
              </a:rPr>
              <a:t>ON-PREMISE-LÖSUNG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48640" y="1965960"/>
            <a:ext cx="96012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de-CH" sz="4600" b="1" dirty="0">
                <a:solidFill>
                  <a:srgbClr val="FFFFFF"/>
                </a:solidFill>
                <a:latin typeface="Arial"/>
                <a:cs typeface="Arial"/>
              </a:rPr>
              <a:t>Ihre Sitzungen verlassen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de-CH" sz="4600" b="1" dirty="0">
                <a:solidFill>
                  <a:srgbClr val="FFFFFF"/>
                </a:solidFill>
                <a:latin typeface="Arial"/>
                <a:cs typeface="Arial"/>
              </a:rPr>
              <a:t>nie Ihr Haus.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48640" y="3611880"/>
            <a:ext cx="86868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de-CH" sz="2000" dirty="0">
                <a:solidFill>
                  <a:srgbClr val="D3D8DF"/>
                </a:solidFill>
                <a:latin typeface="Arial"/>
                <a:cs typeface="Arial"/>
              </a:rPr>
              <a:t>Transkription, Sprechererkennung und KI-Protokolle – komplett auf Ihren eigenen Servern.</a:t>
            </a:r>
          </a:p>
        </p:txBody>
      </p:sp>
      <p:sp>
        <p:nvSpPr>
          <p:cNvPr id="10" name="Fakt 10"/>
          <p:cNvSpPr/>
          <p:nvPr/>
        </p:nvSpPr>
        <p:spPr>
          <a:xfrm>
            <a:off x="548640" y="4892040"/>
            <a:ext cx="3515258" cy="1325880"/>
          </a:xfrm>
          <a:prstGeom prst="roundRect">
            <a:avLst>
              <a:gd name="adj" fmla="val 7000"/>
            </a:avLst>
          </a:prstGeom>
          <a:solidFill>
            <a:srgbClr val="1C2028"/>
          </a:solidFill>
          <a:ln>
            <a:noFill/>
          </a:ln>
        </p:spPr>
        <p:txBody>
          <a:bodyPr wrap="square" lIns="274320" tIns="256032" rIns="274320" bIns="182880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de-CH" sz="2200" b="1" dirty="0">
                <a:solidFill>
                  <a:srgbClr val="D52B1E"/>
                </a:solidFill>
                <a:latin typeface="Arial"/>
                <a:cs typeface="Arial"/>
              </a:rPr>
              <a:t>100 % lokal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de-CH" sz="1400" dirty="0">
                <a:solidFill>
                  <a:srgbClr val="D3D8DF"/>
                </a:solidFill>
                <a:latin typeface="Arial"/>
                <a:cs typeface="Arial"/>
              </a:rPr>
              <a:t>Daten, Modelle und Speicher bleiben bei Ihnen</a:t>
            </a:r>
          </a:p>
        </p:txBody>
      </p:sp>
      <p:sp>
        <p:nvSpPr>
          <p:cNvPr id="11" name="Fakt 11"/>
          <p:cNvSpPr/>
          <p:nvPr/>
        </p:nvSpPr>
        <p:spPr>
          <a:xfrm>
            <a:off x="4338218" y="4892040"/>
            <a:ext cx="3515258" cy="1325880"/>
          </a:xfrm>
          <a:prstGeom prst="roundRect">
            <a:avLst>
              <a:gd name="adj" fmla="val 7000"/>
            </a:avLst>
          </a:prstGeom>
          <a:solidFill>
            <a:srgbClr val="1C2028"/>
          </a:solidFill>
          <a:ln>
            <a:noFill/>
          </a:ln>
        </p:spPr>
        <p:txBody>
          <a:bodyPr wrap="square" lIns="274320" tIns="256032" rIns="274320" bIns="182880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de-CH" sz="2200" b="1" dirty="0">
                <a:solidFill>
                  <a:srgbClr val="D52B1E"/>
                </a:solidFill>
                <a:latin typeface="Arial"/>
                <a:cs typeface="Arial"/>
              </a:rPr>
              <a:t>Schweizerdeutsch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de-CH" sz="1400" dirty="0">
                <a:solidFill>
                  <a:srgbClr val="D3D8DF"/>
                </a:solidFill>
                <a:latin typeface="Arial"/>
                <a:cs typeface="Arial"/>
              </a:rPr>
              <a:t>Live-Transkription und Upload von Aufnahmen</a:t>
            </a:r>
          </a:p>
        </p:txBody>
      </p:sp>
      <p:sp>
        <p:nvSpPr>
          <p:cNvPr id="12" name="Fakt 12"/>
          <p:cNvSpPr/>
          <p:nvPr/>
        </p:nvSpPr>
        <p:spPr>
          <a:xfrm>
            <a:off x="8127797" y="4892040"/>
            <a:ext cx="3515258" cy="1325880"/>
          </a:xfrm>
          <a:prstGeom prst="roundRect">
            <a:avLst>
              <a:gd name="adj" fmla="val 7000"/>
            </a:avLst>
          </a:prstGeom>
          <a:solidFill>
            <a:srgbClr val="1C2028"/>
          </a:solidFill>
          <a:ln>
            <a:noFill/>
          </a:ln>
        </p:spPr>
        <p:txBody>
          <a:bodyPr wrap="square" lIns="274320" tIns="256032" rIns="274320" bIns="182880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de-CH" sz="2200" b="1" dirty="0">
                <a:solidFill>
                  <a:srgbClr val="D52B1E"/>
                </a:solidFill>
                <a:latin typeface="Arial"/>
                <a:cs typeface="Arial"/>
              </a:rPr>
              <a:t>Ohne Internet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de-CH" sz="1400" dirty="0">
                <a:solidFill>
                  <a:srgbClr val="D3D8DF"/>
                </a:solidFill>
                <a:latin typeface="Arial"/>
                <a:cs typeface="Arial"/>
              </a:rPr>
              <a:t>Läuft auch in abgeschotteten Netzen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3"/>
          <p:cNvSpPr/>
          <p:nvPr/>
        </p:nvSpPr>
        <p:spPr>
          <a:xfrm>
            <a:off x="9101023" y="47548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D52B1E"/>
          </a:solidFill>
          <a:ln>
            <a:noFill/>
          </a:ln>
        </p:spPr>
      </p:sp>
      <p:sp>
        <p:nvSpPr>
          <p:cNvPr id="4" name="Logo Kreuz 4"/>
          <p:cNvSpPr/>
          <p:nvPr/>
        </p:nvSpPr>
        <p:spPr>
          <a:xfrm>
            <a:off x="9210751" y="527609"/>
            <a:ext cx="54864" cy="17007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ogo Kreuz 5"/>
          <p:cNvSpPr/>
          <p:nvPr/>
        </p:nvSpPr>
        <p:spPr>
          <a:xfrm>
            <a:off x="9153144" y="585216"/>
            <a:ext cx="17007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Wortmarke 6"/>
          <p:cNvSpPr txBox="1"/>
          <p:nvPr/>
        </p:nvSpPr>
        <p:spPr>
          <a:xfrm>
            <a:off x="9503359" y="429768"/>
            <a:ext cx="213969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200" b="1" dirty="0">
                <a:solidFill>
                  <a:srgbClr val="1F2328"/>
                </a:solidFill>
                <a:latin typeface="Arial"/>
                <a:cs typeface="Arial"/>
              </a:rPr>
              <a:t>Suisse Meets</a:t>
            </a:r>
            <a:r>
              <a:rPr lang="de-CH" sz="1200" dirty="0">
                <a:solidFill>
                  <a:srgbClr val="5B6470"/>
                </a:solidFill>
                <a:latin typeface="Arial"/>
                <a:cs typeface="Arial"/>
              </a:rPr>
              <a:t>  On-Premise</a:t>
            </a:r>
          </a:p>
        </p:txBody>
      </p:sp>
      <p:sp>
        <p:nvSpPr>
          <p:cNvPr id="7" name="Titel 7"/>
          <p:cNvSpPr txBox="1"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3200" b="1" dirty="0">
                <a:solidFill>
                  <a:srgbClr val="1F2328"/>
                </a:solidFill>
                <a:latin typeface="Arial"/>
                <a:cs typeface="Arial"/>
              </a:rPr>
              <a:t>So funktioniert's</a:t>
            </a:r>
          </a:p>
        </p:txBody>
      </p:sp>
      <p:sp>
        <p:nvSpPr>
          <p:cNvPr id="8" name="Untertitel 8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600" dirty="0">
                <a:solidFill>
                  <a:srgbClr val="5B6470"/>
                </a:solidFill>
                <a:latin typeface="Arial"/>
                <a:cs typeface="Arial"/>
              </a:rPr>
              <a:t>Eine Kopie der Suisse-Meets-Web-App plus KI-Modelle – alles in Ihrem Rechenzentrum.</a:t>
            </a:r>
          </a:p>
        </p:txBody>
      </p:sp>
      <p:sp>
        <p:nvSpPr>
          <p:cNvPr id="9" name="Rahmen Rechenzentrum 9"/>
          <p:cNvSpPr/>
          <p:nvPr/>
        </p:nvSpPr>
        <p:spPr>
          <a:xfrm>
            <a:off x="3329788" y="1691640"/>
            <a:ext cx="8458200" cy="34290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D52B1E"/>
            </a:solidFill>
            <a:prstDash val="dash"/>
          </a:ln>
        </p:spPr>
      </p:sp>
      <p:sp>
        <p:nvSpPr>
          <p:cNvPr id="10" name="Text 10"/>
          <p:cNvSpPr txBox="1"/>
          <p:nvPr/>
        </p:nvSpPr>
        <p:spPr>
          <a:xfrm>
            <a:off x="3558388" y="1783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200" b="1" spc="150" dirty="0">
                <a:solidFill>
                  <a:srgbClr val="D52B1E"/>
                </a:solidFill>
                <a:latin typeface="Arial"/>
                <a:cs typeface="Arial"/>
              </a:rPr>
              <a:t>IHR RECHENZENTRUM</a:t>
            </a:r>
          </a:p>
        </p:txBody>
      </p:sp>
      <p:sp>
        <p:nvSpPr>
          <p:cNvPr id="11" name="Schritt 1 11"/>
          <p:cNvSpPr/>
          <p:nvPr/>
        </p:nvSpPr>
        <p:spPr>
          <a:xfrm>
            <a:off x="586588" y="219456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F2F3F5"/>
          </a:solidFill>
          <a:ln>
            <a:noFill/>
          </a:ln>
        </p:spPr>
        <p:txBody>
          <a:bodyPr wrap="square" lIns="201168" tIns="182880" rIns="201168" bIns="18288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de-CH" sz="2200" b="1" dirty="0">
                <a:solidFill>
                  <a:srgbClr val="D52B1E"/>
                </a:solidFill>
                <a:latin typeface="Arial"/>
                <a:cs typeface="Arial"/>
              </a:rPr>
              <a:t>1</a:t>
            </a:r>
          </a:p>
          <a:p>
            <a:pPr algn="l">
              <a:spcAft>
                <a:spcPts val="600"/>
              </a:spcAft>
              <a:buNone/>
            </a:pPr>
            <a:r>
              <a:rPr lang="de-CH" sz="1800" b="1" dirty="0">
                <a:solidFill>
                  <a:srgbClr val="1F2328"/>
                </a:solidFill>
                <a:latin typeface="Arial"/>
                <a:cs typeface="Arial"/>
              </a:rPr>
              <a:t>Aufnahme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de-CH" sz="1300" dirty="0">
                <a:solidFill>
                  <a:srgbClr val="5B6470"/>
                </a:solidFill>
                <a:latin typeface="Arial"/>
                <a:cs typeface="Arial"/>
              </a:rPr>
              <a:t>Browser und Konferenzmikrofon im Sitzungszimmer</a:t>
            </a:r>
          </a:p>
        </p:txBody>
      </p:sp>
      <p:sp>
        <p:nvSpPr>
          <p:cNvPr id="12" name="Pfeil 12"/>
          <p:cNvSpPr/>
          <p:nvPr/>
        </p:nvSpPr>
        <p:spPr>
          <a:xfrm>
            <a:off x="2900020" y="2912364"/>
            <a:ext cx="329184" cy="347472"/>
          </a:xfrm>
          <a:prstGeom prst="rightArrow">
            <a:avLst/>
          </a:prstGeom>
          <a:solidFill>
            <a:srgbClr val="C4C9D0"/>
          </a:solidFill>
          <a:ln>
            <a:noFill/>
          </a:ln>
        </p:spPr>
      </p:sp>
      <p:sp>
        <p:nvSpPr>
          <p:cNvPr id="13" name="Schritt 2 13"/>
          <p:cNvSpPr/>
          <p:nvPr/>
        </p:nvSpPr>
        <p:spPr>
          <a:xfrm>
            <a:off x="3512668" y="219456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F2F3F5"/>
          </a:solidFill>
          <a:ln>
            <a:noFill/>
          </a:ln>
        </p:spPr>
        <p:txBody>
          <a:bodyPr wrap="square" lIns="201168" tIns="182880" rIns="201168" bIns="18288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de-CH" sz="2200" b="1" dirty="0">
                <a:solidFill>
                  <a:srgbClr val="D52B1E"/>
                </a:solidFill>
                <a:latin typeface="Arial"/>
                <a:cs typeface="Arial"/>
              </a:rPr>
              <a:t>2</a:t>
            </a:r>
          </a:p>
          <a:p>
            <a:pPr algn="l">
              <a:spcAft>
                <a:spcPts val="600"/>
              </a:spcAft>
              <a:buNone/>
            </a:pPr>
            <a:r>
              <a:rPr lang="de-CH" sz="1800" b="1" dirty="0">
                <a:solidFill>
                  <a:srgbClr val="1F2328"/>
                </a:solidFill>
                <a:latin typeface="Arial"/>
                <a:cs typeface="Arial"/>
              </a:rPr>
              <a:t>Transkription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de-CH" sz="1300" dirty="0">
                <a:solidFill>
                  <a:srgbClr val="5B6470"/>
                </a:solidFill>
                <a:latin typeface="Arial"/>
                <a:cs typeface="Arial"/>
              </a:rPr>
              <a:t>Whisper, optimiert für Schweizerdeutsch</a:t>
            </a:r>
          </a:p>
        </p:txBody>
      </p:sp>
      <p:sp>
        <p:nvSpPr>
          <p:cNvPr id="14" name="Pfeil 14"/>
          <p:cNvSpPr/>
          <p:nvPr/>
        </p:nvSpPr>
        <p:spPr>
          <a:xfrm>
            <a:off x="5935828" y="2912364"/>
            <a:ext cx="329184" cy="347472"/>
          </a:xfrm>
          <a:prstGeom prst="rightArrow">
            <a:avLst/>
          </a:prstGeom>
          <a:solidFill>
            <a:srgbClr val="C4C9D0"/>
          </a:solidFill>
          <a:ln>
            <a:noFill/>
          </a:ln>
        </p:spPr>
      </p:sp>
      <p:sp>
        <p:nvSpPr>
          <p:cNvPr id="15" name="Schritt 3 15"/>
          <p:cNvSpPr/>
          <p:nvPr/>
        </p:nvSpPr>
        <p:spPr>
          <a:xfrm>
            <a:off x="6438748" y="219456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F2F3F5"/>
          </a:solidFill>
          <a:ln>
            <a:noFill/>
          </a:ln>
        </p:spPr>
        <p:txBody>
          <a:bodyPr wrap="square" lIns="201168" tIns="182880" rIns="201168" bIns="18288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de-CH" sz="2200" b="1" dirty="0">
                <a:solidFill>
                  <a:srgbClr val="D52B1E"/>
                </a:solidFill>
                <a:latin typeface="Arial"/>
                <a:cs typeface="Arial"/>
              </a:rPr>
              <a:t>3</a:t>
            </a:r>
          </a:p>
          <a:p>
            <a:pPr algn="l">
              <a:spcAft>
                <a:spcPts val="600"/>
              </a:spcAft>
              <a:buNone/>
            </a:pPr>
            <a:r>
              <a:rPr lang="de-CH" sz="1800" b="1" dirty="0">
                <a:solidFill>
                  <a:srgbClr val="1F2328"/>
                </a:solidFill>
                <a:latin typeface="Arial"/>
                <a:cs typeface="Arial"/>
              </a:rPr>
              <a:t>Sprecher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de-CH" sz="1300" dirty="0">
                <a:solidFill>
                  <a:srgbClr val="5B6470"/>
                </a:solidFill>
                <a:latin typeface="Arial"/>
                <a:cs typeface="Arial"/>
              </a:rPr>
              <a:t>pyannote erkennt, wer wann spricht</a:t>
            </a:r>
          </a:p>
        </p:txBody>
      </p:sp>
      <p:sp>
        <p:nvSpPr>
          <p:cNvPr id="16" name="Pfeil 16"/>
          <p:cNvSpPr/>
          <p:nvPr/>
        </p:nvSpPr>
        <p:spPr>
          <a:xfrm>
            <a:off x="8861908" y="2912364"/>
            <a:ext cx="329184" cy="347472"/>
          </a:xfrm>
          <a:prstGeom prst="rightArrow">
            <a:avLst/>
          </a:prstGeom>
          <a:solidFill>
            <a:srgbClr val="C4C9D0"/>
          </a:solidFill>
          <a:ln>
            <a:noFill/>
          </a:ln>
        </p:spPr>
      </p:sp>
      <p:sp>
        <p:nvSpPr>
          <p:cNvPr id="17" name="Schritt 4 17"/>
          <p:cNvSpPr/>
          <p:nvPr/>
        </p:nvSpPr>
        <p:spPr>
          <a:xfrm>
            <a:off x="9364828" y="219456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F2F3F5"/>
          </a:solidFill>
          <a:ln>
            <a:noFill/>
          </a:ln>
        </p:spPr>
        <p:txBody>
          <a:bodyPr wrap="square" lIns="201168" tIns="182880" rIns="201168" bIns="18288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de-CH" sz="2200" b="1" dirty="0">
                <a:solidFill>
                  <a:srgbClr val="D52B1E"/>
                </a:solidFill>
                <a:latin typeface="Arial"/>
                <a:cs typeface="Arial"/>
              </a:rPr>
              <a:t>4</a:t>
            </a:r>
          </a:p>
          <a:p>
            <a:pPr algn="l">
              <a:spcAft>
                <a:spcPts val="600"/>
              </a:spcAft>
              <a:buNone/>
            </a:pPr>
            <a:r>
              <a:rPr lang="de-CH" sz="1800" b="1" dirty="0">
                <a:solidFill>
                  <a:srgbClr val="1F2328"/>
                </a:solidFill>
                <a:latin typeface="Arial"/>
                <a:cs typeface="Arial"/>
              </a:rPr>
              <a:t>Protokoll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de-CH" sz="1300" dirty="0">
                <a:solidFill>
                  <a:srgbClr val="5B6470"/>
                </a:solidFill>
                <a:latin typeface="Arial"/>
                <a:cs typeface="Arial"/>
              </a:rPr>
              <a:t>Qwen3.8 schreibt Zusammenfassung und Pendenzen</a:t>
            </a:r>
          </a:p>
        </p:txBody>
      </p:sp>
      <p:sp>
        <p:nvSpPr>
          <p:cNvPr id="18" name="Speicher 18"/>
          <p:cNvSpPr/>
          <p:nvPr/>
        </p:nvSpPr>
        <p:spPr>
          <a:xfrm>
            <a:off x="3512668" y="4251960"/>
            <a:ext cx="8092440" cy="621792"/>
          </a:xfrm>
          <a:prstGeom prst="roundRect">
            <a:avLst>
              <a:gd name="adj" fmla="val 12000"/>
            </a:avLst>
          </a:prstGeom>
          <a:solidFill>
            <a:srgbClr val="0F1115"/>
          </a:solidFill>
          <a:ln>
            <a:noFill/>
          </a:ln>
        </p:spPr>
        <p:txBody>
          <a:bodyPr wrap="square" lIns="182880" tIns="45720" rIns="182880" bIns="4572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de-CH" sz="1600" b="1" dirty="0">
                <a:solidFill>
                  <a:srgbClr val="FFFFFF"/>
                </a:solidFill>
                <a:latin typeface="Arial"/>
                <a:cs typeface="Arial"/>
              </a:rPr>
              <a:t>Speicherung  </a:t>
            </a:r>
            <a:r>
              <a:rPr lang="de-CH" sz="1600" dirty="0">
                <a:solidFill>
                  <a:srgbClr val="D3D8DF"/>
                </a:solidFill>
                <a:latin typeface="Arial"/>
                <a:cs typeface="Arial"/>
              </a:rPr>
              <a:t>verschlüsselt, auf Ihren eigenen Servern</a:t>
            </a:r>
          </a:p>
        </p:txBody>
      </p:sp>
      <p:sp>
        <p:nvSpPr>
          <p:cNvPr id="19" name="ENTHALTEN 19"/>
          <p:cNvSpPr/>
          <p:nvPr/>
        </p:nvSpPr>
        <p:spPr>
          <a:xfrm>
            <a:off x="548640" y="5440680"/>
            <a:ext cx="5410048" cy="868680"/>
          </a:xfrm>
          <a:prstGeom prst="roundRect">
            <a:avLst>
              <a:gd name="adj" fmla="val 9000"/>
            </a:avLst>
          </a:prstGeom>
          <a:solidFill>
            <a:srgbClr val="F2F3F5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de-CH" sz="1100" b="1" spc="120" dirty="0">
                <a:solidFill>
                  <a:srgbClr val="D52B1E"/>
                </a:solidFill>
                <a:latin typeface="Arial"/>
                <a:cs typeface="Arial"/>
              </a:rPr>
              <a:t>ENTHALTEN</a:t>
            </a:r>
          </a:p>
          <a:p>
            <a:pPr algn="l">
              <a:spcAft>
                <a:spcPts val="0"/>
              </a:spcAft>
              <a:buNone/>
            </a:pPr>
            <a:r>
              <a:rPr lang="de-CH" sz="1400" dirty="0">
                <a:solidFill>
                  <a:srgbClr val="1F2328"/>
                </a:solidFill>
                <a:latin typeface="Arial"/>
                <a:cs typeface="Arial"/>
              </a:rPr>
              <a:t>Web-App  ·  Live &amp; Upload  ·  Protokolle  ·  SSO</a:t>
            </a:r>
          </a:p>
        </p:txBody>
      </p:sp>
      <p:sp>
        <p:nvSpPr>
          <p:cNvPr id="20" name="NICHT ENTHALTEN 20"/>
          <p:cNvSpPr/>
          <p:nvPr/>
        </p:nvSpPr>
        <p:spPr>
          <a:xfrm>
            <a:off x="6233008" y="5440680"/>
            <a:ext cx="5410048" cy="868680"/>
          </a:xfrm>
          <a:prstGeom prst="roundRect">
            <a:avLst>
              <a:gd name="adj" fmla="val 9000"/>
            </a:avLst>
          </a:prstGeom>
          <a:solidFill>
            <a:srgbClr val="F2F3F5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de-CH" sz="1100" b="1" spc="120" dirty="0">
                <a:solidFill>
                  <a:srgbClr val="5B6470"/>
                </a:solidFill>
                <a:latin typeface="Arial"/>
                <a:cs typeface="Arial"/>
              </a:rPr>
              <a:t>NICHT ENTHALTEN</a:t>
            </a:r>
          </a:p>
          <a:p>
            <a:pPr algn="l">
              <a:spcAft>
                <a:spcPts val="0"/>
              </a:spcAft>
              <a:buNone/>
            </a:pPr>
            <a:r>
              <a:rPr lang="de-CH" sz="1400" dirty="0">
                <a:solidFill>
                  <a:srgbClr val="1F2328"/>
                </a:solidFill>
                <a:latin typeface="Arial"/>
                <a:cs typeface="Arial"/>
              </a:rPr>
              <a:t>Teams-/Zoom-Bots  ·  Mediabot  ·  Mobile-/Desktop-Apps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3"/>
          <p:cNvSpPr/>
          <p:nvPr/>
        </p:nvSpPr>
        <p:spPr>
          <a:xfrm>
            <a:off x="9101023" y="47548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D52B1E"/>
          </a:solidFill>
          <a:ln>
            <a:noFill/>
          </a:ln>
        </p:spPr>
      </p:sp>
      <p:sp>
        <p:nvSpPr>
          <p:cNvPr id="4" name="Logo Kreuz 4"/>
          <p:cNvSpPr/>
          <p:nvPr/>
        </p:nvSpPr>
        <p:spPr>
          <a:xfrm>
            <a:off x="9210751" y="527609"/>
            <a:ext cx="54864" cy="17007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ogo Kreuz 5"/>
          <p:cNvSpPr/>
          <p:nvPr/>
        </p:nvSpPr>
        <p:spPr>
          <a:xfrm>
            <a:off x="9153144" y="585216"/>
            <a:ext cx="17007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Wortmarke 6"/>
          <p:cNvSpPr txBox="1"/>
          <p:nvPr/>
        </p:nvSpPr>
        <p:spPr>
          <a:xfrm>
            <a:off x="9503359" y="429768"/>
            <a:ext cx="213969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200" b="1" dirty="0">
                <a:solidFill>
                  <a:srgbClr val="1F2328"/>
                </a:solidFill>
                <a:latin typeface="Arial"/>
                <a:cs typeface="Arial"/>
              </a:rPr>
              <a:t>Suisse Meets</a:t>
            </a:r>
            <a:r>
              <a:rPr lang="de-CH" sz="1200" dirty="0">
                <a:solidFill>
                  <a:srgbClr val="5B6470"/>
                </a:solidFill>
                <a:latin typeface="Arial"/>
                <a:cs typeface="Arial"/>
              </a:rPr>
              <a:t>  On-Premise</a:t>
            </a:r>
          </a:p>
        </p:txBody>
      </p:sp>
      <p:sp>
        <p:nvSpPr>
          <p:cNvPr id="7" name="Titel 7"/>
          <p:cNvSpPr txBox="1"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3200" b="1" dirty="0">
                <a:solidFill>
                  <a:srgbClr val="1F2328"/>
                </a:solidFill>
                <a:latin typeface="Arial"/>
                <a:cs typeface="Arial"/>
              </a:rPr>
              <a:t>Hardware-Empfehlung</a:t>
            </a:r>
          </a:p>
        </p:txBody>
      </p:sp>
      <p:sp>
        <p:nvSpPr>
          <p:cNvPr id="8" name="Untertitel 8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600" dirty="0">
                <a:solidFill>
                  <a:srgbClr val="5B6470"/>
                </a:solidFill>
                <a:latin typeface="Arial"/>
                <a:cs typeface="Arial"/>
              </a:rPr>
              <a:t>Ein Server genügt – alle KI-Modelle laufen lokal auf einer Grafikkarte.</a:t>
            </a:r>
          </a:p>
        </p:txBody>
      </p:sp>
      <p:sp>
        <p:nvSpPr>
          <p:cNvPr id="9" name="KOMPAKT 9"/>
          <p:cNvSpPr/>
          <p:nvPr/>
        </p:nvSpPr>
        <p:spPr>
          <a:xfrm>
            <a:off x="548640" y="1783080"/>
            <a:ext cx="3484778" cy="3749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68680" y="210312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100" b="1" spc="120" dirty="0">
                <a:solidFill>
                  <a:srgbClr val="5B6470"/>
                </a:solidFill>
                <a:latin typeface="Arial"/>
                <a:cs typeface="Arial"/>
              </a:rPr>
              <a:t>KOMPAKT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68680" y="2606040"/>
            <a:ext cx="284469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de-CH" sz="2600" b="1" dirty="0">
                <a:solidFill>
                  <a:srgbClr val="1F2328"/>
                </a:solidFill>
                <a:latin typeface="Arial"/>
                <a:cs typeface="Arial"/>
              </a:rPr>
              <a:t>Mac Studio</a:t>
            </a:r>
          </a:p>
          <a:p>
            <a:pPr algn="l">
              <a:spcAft>
                <a:spcPts val="0"/>
              </a:spcAft>
              <a:buNone/>
            </a:pPr>
            <a:r>
              <a:rPr lang="de-CH" sz="1500" dirty="0">
                <a:solidFill>
                  <a:srgbClr val="5B6470"/>
                </a:solidFill>
                <a:latin typeface="Arial"/>
                <a:cs typeface="Arial"/>
              </a:rPr>
              <a:t>M5 Ultra · 96 GB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68680" y="3657600"/>
            <a:ext cx="2844698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01168" indent="-201168">
              <a:spcAft>
                <a:spcPts val="600"/>
              </a:spcAft>
              <a:buClr>
                <a:srgbClr val="D52B1E"/>
              </a:buClr>
              <a:buFont typeface="Arial"/>
              <a:buChar char="•"/>
            </a:pPr>
            <a:r>
              <a:rPr lang="de-CH" sz="1600" dirty="0">
                <a:solidFill>
                  <a:srgbClr val="1F2328"/>
                </a:solidFill>
                <a:latin typeface="Arial"/>
                <a:cs typeface="Arial"/>
              </a:rPr>
              <a:t>bis ca. 30 Nutzer</a:t>
            </a:r>
          </a:p>
          <a:p>
            <a:pPr algn="l" marL="201168" indent="-201168">
              <a:spcAft>
                <a:spcPts val="600"/>
              </a:spcAft>
              <a:buClr>
                <a:srgbClr val="D52B1E"/>
              </a:buClr>
              <a:buFont typeface="Arial"/>
              <a:buChar char="•"/>
            </a:pPr>
            <a:r>
              <a:rPr lang="de-CH" sz="1600" dirty="0">
                <a:solidFill>
                  <a:srgbClr val="1F2328"/>
                </a:solidFill>
                <a:latin typeface="Arial"/>
                <a:cs typeface="Arial"/>
              </a:rPr>
              <a:t>2–3 parallele Sitzungen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68680" y="4663440"/>
            <a:ext cx="284469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2800" b="1" dirty="0">
                <a:solidFill>
                  <a:srgbClr val="1F2328"/>
                </a:solidFill>
                <a:latin typeface="Arial"/>
                <a:cs typeface="Arial"/>
              </a:rPr>
              <a:t>CHF 6–8k</a:t>
            </a:r>
          </a:p>
        </p:txBody>
      </p:sp>
      <p:sp>
        <p:nvSpPr>
          <p:cNvPr id="14" name="EMPFOHLEN 14"/>
          <p:cNvSpPr/>
          <p:nvPr/>
        </p:nvSpPr>
        <p:spPr>
          <a:xfrm>
            <a:off x="4353458" y="1783080"/>
            <a:ext cx="3484778" cy="3749040"/>
          </a:xfrm>
          <a:prstGeom prst="roundRect">
            <a:avLst>
              <a:gd name="adj" fmla="val 5000"/>
            </a:avLst>
          </a:prstGeom>
          <a:solidFill>
            <a:srgbClr val="0F1115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4673498" y="21031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52B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de-CH" sz="1100" b="1" spc="120" dirty="0">
                <a:solidFill>
                  <a:srgbClr val="FFFFFF"/>
                </a:solidFill>
                <a:latin typeface="Arial"/>
                <a:cs typeface="Arial"/>
              </a:rPr>
              <a:t>EMPFOHLEN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673498" y="2606040"/>
            <a:ext cx="284469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de-CH" sz="2600" b="1" dirty="0">
                <a:solidFill>
                  <a:srgbClr val="FFFFFF"/>
                </a:solidFill>
                <a:latin typeface="Arial"/>
                <a:cs typeface="Arial"/>
              </a:rPr>
              <a:t>GPU-Server</a:t>
            </a:r>
          </a:p>
          <a:p>
            <a:pPr algn="l">
              <a:spcAft>
                <a:spcPts val="0"/>
              </a:spcAft>
              <a:buNone/>
            </a:pPr>
            <a:r>
              <a:rPr lang="de-CH" sz="1500" dirty="0">
                <a:solidFill>
                  <a:srgbClr val="D3D8DF"/>
                </a:solidFill>
                <a:latin typeface="Arial"/>
                <a:cs typeface="Arial"/>
              </a:rPr>
              <a:t>NVIDIA RTX PRO 6000 · 96 GB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673498" y="3657600"/>
            <a:ext cx="2844698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01168" indent="-201168">
              <a:spcAft>
                <a:spcPts val="600"/>
              </a:spcAft>
              <a:buClr>
                <a:srgbClr val="D52B1E"/>
              </a:buClr>
              <a:buFont typeface="Arial"/>
              <a:buChar char="•"/>
            </a:pPr>
            <a:r>
              <a:rPr lang="de-CH" sz="1600" dirty="0">
                <a:solidFill>
                  <a:srgbClr val="FFFFFF"/>
                </a:solidFill>
                <a:latin typeface="Arial"/>
                <a:cs typeface="Arial"/>
              </a:rPr>
              <a:t>50–300 Nutzer</a:t>
            </a:r>
          </a:p>
          <a:p>
            <a:pPr algn="l" marL="201168" indent="-201168">
              <a:spcAft>
                <a:spcPts val="600"/>
              </a:spcAft>
              <a:buClr>
                <a:srgbClr val="D52B1E"/>
              </a:buClr>
              <a:buFont typeface="Arial"/>
              <a:buChar char="•"/>
            </a:pPr>
            <a:r>
              <a:rPr lang="de-CH" sz="1600" dirty="0">
                <a:solidFill>
                  <a:srgbClr val="FFFFFF"/>
                </a:solidFill>
                <a:latin typeface="Arial"/>
                <a:cs typeface="Arial"/>
              </a:rPr>
              <a:t>~15 parallele Sitzungen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673498" y="4663440"/>
            <a:ext cx="284469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2800" b="1" dirty="0">
                <a:solidFill>
                  <a:srgbClr val="FFFFFF"/>
                </a:solidFill>
                <a:latin typeface="Arial"/>
                <a:cs typeface="Arial"/>
              </a:rPr>
              <a:t>CHF 25–40k</a:t>
            </a:r>
          </a:p>
        </p:txBody>
      </p:sp>
      <p:sp>
        <p:nvSpPr>
          <p:cNvPr id="19" name="ENTERPRISE 19"/>
          <p:cNvSpPr/>
          <p:nvPr/>
        </p:nvSpPr>
        <p:spPr>
          <a:xfrm>
            <a:off x="8158277" y="1783080"/>
            <a:ext cx="3484778" cy="3749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478317" y="210312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100" b="1" spc="120" dirty="0">
                <a:solidFill>
                  <a:srgbClr val="5B6470"/>
                </a:solidFill>
                <a:latin typeface="Arial"/>
                <a:cs typeface="Arial"/>
              </a:rPr>
              <a:t>ENTERPRISE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478317" y="2606040"/>
            <a:ext cx="284469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de-CH" sz="2600" b="1" dirty="0">
                <a:solidFill>
                  <a:srgbClr val="1F2328"/>
                </a:solidFill>
                <a:latin typeface="Arial"/>
                <a:cs typeface="Arial"/>
              </a:rPr>
              <a:t>2 GPU-Server</a:t>
            </a:r>
          </a:p>
          <a:p>
            <a:pPr algn="l">
              <a:spcAft>
                <a:spcPts val="0"/>
              </a:spcAft>
              <a:buNone/>
            </a:pPr>
            <a:r>
              <a:rPr lang="de-CH" sz="1500" dirty="0">
                <a:solidFill>
                  <a:srgbClr val="5B6470"/>
                </a:solidFill>
                <a:latin typeface="Arial"/>
                <a:cs typeface="Arial"/>
              </a:rPr>
              <a:t>redundant, ohne Ausfallpunkt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478317" y="3657600"/>
            <a:ext cx="2844698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01168" indent="-201168">
              <a:spcAft>
                <a:spcPts val="600"/>
              </a:spcAft>
              <a:buClr>
                <a:srgbClr val="D52B1E"/>
              </a:buClr>
              <a:buFont typeface="Arial"/>
              <a:buChar char="•"/>
            </a:pPr>
            <a:r>
              <a:rPr lang="de-CH" sz="1600" dirty="0">
                <a:solidFill>
                  <a:srgbClr val="1F2328"/>
                </a:solidFill>
                <a:latin typeface="Arial"/>
                <a:cs typeface="Arial"/>
              </a:rPr>
              <a:t>300–1'500 Nutzer</a:t>
            </a:r>
          </a:p>
          <a:p>
            <a:pPr algn="l" marL="201168" indent="-201168">
              <a:spcAft>
                <a:spcPts val="600"/>
              </a:spcAft>
              <a:buClr>
                <a:srgbClr val="D52B1E"/>
              </a:buClr>
              <a:buFont typeface="Arial"/>
              <a:buChar char="•"/>
            </a:pPr>
            <a:r>
              <a:rPr lang="de-CH" sz="1600" dirty="0">
                <a:solidFill>
                  <a:srgbClr val="1F2328"/>
                </a:solidFill>
                <a:latin typeface="Arial"/>
                <a:cs typeface="Arial"/>
              </a:rPr>
              <a:t>40+ parallele Sitzungen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478317" y="4663440"/>
            <a:ext cx="284469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2800" b="1" dirty="0">
                <a:solidFill>
                  <a:srgbClr val="1F2328"/>
                </a:solidFill>
                <a:latin typeface="Arial"/>
                <a:cs typeface="Arial"/>
              </a:rPr>
              <a:t>CHF 90–130k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500" b="1" dirty="0">
                <a:solidFill>
                  <a:srgbClr val="1F2328"/>
                </a:solidFill>
                <a:latin typeface="Arial"/>
                <a:cs typeface="Arial"/>
              </a:rPr>
              <a:t>Einführung in 6–8 Wochen</a:t>
            </a:r>
            <a:r>
              <a:rPr lang="de-CH" sz="1500" dirty="0">
                <a:solidFill>
                  <a:srgbClr val="5B6470"/>
                </a:solidFill>
                <a:latin typeface="Arial"/>
                <a:cs typeface="Arial"/>
              </a:rPr>
              <a:t>   ·   Updates offline und signiert   ·   Support nur über Ihr VPN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48640" y="62179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CH" sz="1050" dirty="0">
                <a:solidFill>
                  <a:srgbClr val="5B6470"/>
                </a:solidFill>
                <a:latin typeface="Arial"/>
                <a:cs typeface="Arial"/>
              </a:rPr>
              <a:t>Richtpreise nur Hardware, exkl. MWST, Stand September 2026. Kapazitäten sind Schätzungen und werden im Abnahmetest bestätigt.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isse Meets">
  <a:themeElements>
    <a:clrScheme name="Suisse Meets">
      <a:dk1>
        <a:srgbClr val="1F2328"/>
      </a:dk1>
      <a:lt1>
        <a:srgbClr val="FFFFFF"/>
      </a:lt1>
      <a:dk2>
        <a:srgbClr val="0F1115"/>
      </a:dk2>
      <a:lt2>
        <a:srgbClr val="F2F3F5"/>
      </a:lt2>
      <a:accent1>
        <a:srgbClr val="D52B1E"/>
      </a:accent1>
      <a:accent2>
        <a:srgbClr val="5B6470"/>
      </a:accent2>
      <a:accent3>
        <a:srgbClr val="0F1115"/>
      </a:accent3>
      <a:accent4>
        <a:srgbClr val="A3ABB6"/>
      </a:accent4>
      <a:accent5>
        <a:srgbClr val="8C1C13"/>
      </a:accent5>
      <a:accent6>
        <a:srgbClr val="D3D8DF"/>
      </a:accent6>
      <a:hlink>
        <a:srgbClr val="D52B1E"/>
      </a:hlink>
      <a:folHlink>
        <a:srgbClr val="5B6470"/>
      </a:folHlink>
    </a:clrScheme>
    <a:fontScheme name="Suisse Mee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isse Mee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Suisse Meets On-Premise</dc:title>
  <dc:creator>Suisse Meets</dc:creator>
</cp:coreProperties>
</file>